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429492"/>
            <a:ext cx="8686800" cy="228451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68729" y="1429492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2368">
                <a:solidFill>
                  <a:srgbClr val="262626"/>
                </a:solidFill>
                <a:latin typeface="微软雅黑"/>
              </a:defRPr>
            </a:pPr>
            <a:r>
              <a:t>四步产品开发流程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8729" y="1805543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1579">
                <a:solidFill>
                  <a:srgbClr val="5A5A5A"/>
                </a:solidFill>
                <a:latin typeface="微软雅黑"/>
              </a:defRPr>
            </a:pPr>
            <a:r>
              <a:t>从需求到上线的产品开发四个关键阶段：需求分析、原型设计、开发测试、上线运营。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9020" y="2948741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1974" b="1">
                <a:solidFill>
                  <a:srgbClr val="1783FF"/>
                </a:solidFill>
                <a:latin typeface="微软雅黑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2257" y="2783279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1579" b="1">
                <a:solidFill>
                  <a:srgbClr val="5A5A5A"/>
                </a:solidFill>
                <a:latin typeface="微软雅黑"/>
              </a:defRPr>
            </a:pPr>
            <a:r>
              <a:t>需求分析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9020" y="3168732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1381">
                <a:solidFill>
                  <a:srgbClr val="5A5A5A"/>
                </a:solidFill>
                <a:latin typeface="微软雅黑"/>
              </a:defRPr>
            </a:pPr>
            <a:r>
              <a:t>收集和梳理用户需求、业务目标及约束条件，明确产品要解决的问题和核心价值，为后续设计与开发奠定基础。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35332" y="2948741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1974" b="1">
                <a:solidFill>
                  <a:srgbClr val="00C9C9"/>
                </a:solidFill>
                <a:latin typeface="微软雅黑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98568" y="2783279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1579" b="1">
                <a:solidFill>
                  <a:srgbClr val="5A5A5A"/>
                </a:solidFill>
                <a:latin typeface="微软雅黑"/>
              </a:defRPr>
            </a:pPr>
            <a:r>
              <a:t>原型设计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35332" y="3168732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1381">
                <a:solidFill>
                  <a:srgbClr val="5A5A5A"/>
                </a:solidFill>
                <a:latin typeface="微软雅黑"/>
              </a:defRPr>
            </a:pPr>
            <a:r>
              <a:t>根据需求输出产品原型和交互流程，设计核心功能结构与页面布局，用于验证方案可行性并与干系人对齐预期。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1644" y="2948741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1974" b="1">
                <a:solidFill>
                  <a:srgbClr val="F0884D"/>
                </a:solidFill>
                <a:latin typeface="微软雅黑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54880" y="2783279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1579" b="1">
                <a:solidFill>
                  <a:srgbClr val="5A5A5A"/>
                </a:solidFill>
                <a:latin typeface="微软雅黑"/>
              </a:defRPr>
            </a:pPr>
            <a:r>
              <a:t>开发测试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1644" y="3168732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1381">
                <a:solidFill>
                  <a:srgbClr val="5A5A5A"/>
                </a:solidFill>
                <a:latin typeface="微软雅黑"/>
              </a:defRPr>
            </a:pPr>
            <a:r>
              <a:t>按照原型与需求文档进行功能开发，并通过单元测试、集成测试等方式发现和修复缺陷，确保产品质量与稳定性。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47955" y="2948741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1974" b="1">
                <a:solidFill>
                  <a:srgbClr val="D580FF"/>
                </a:solidFill>
                <a:latin typeface="微软雅黑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11192" y="2783279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1579" b="1">
                <a:solidFill>
                  <a:srgbClr val="5A5A5A"/>
                </a:solidFill>
                <a:latin typeface="微软雅黑"/>
              </a:defRPr>
            </a:pPr>
            <a:r>
              <a:t>上线运营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47955" y="3168732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1381">
                <a:solidFill>
                  <a:srgbClr val="5A5A5A"/>
                </a:solidFill>
                <a:latin typeface="微软雅黑"/>
              </a:defRPr>
            </a:pPr>
            <a:r>
              <a:t>将产品部署到正式环境，持续监控运行情况和用户反馈，进行迭代优化和运营活动，提升产品使用效果和业务指标。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